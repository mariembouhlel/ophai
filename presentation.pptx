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33" d="100"/>
          <a:sy n="33" d="100"/>
        </p:scale>
        <p:origin x="2890" y="13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903822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457200" y="502920"/>
            <a:ext cx="2926080" cy="347472"/>
          </a:xfrm>
          <a:prstGeom prst="roundRect">
            <a:avLst>
              <a:gd name="adj" fmla="val 13158"/>
            </a:avLst>
          </a:prstGeom>
          <a:solidFill>
            <a:srgbClr val="00B4D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457200" y="502920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172A"/>
                </a:solidFill>
              </a:rPr>
              <a:t>DEEP LEARNING · VISION MÉDICALE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051560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dirty="0">
                <a:solidFill>
                  <a:srgbClr val="A8DA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 de la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57200" y="1691640"/>
            <a:ext cx="7772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Rétinopathie Diabétique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457200" y="260604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Itération progressive d'un pipeline de classification multi-classes</a:t>
            </a:r>
            <a:endParaRPr lang="en-US" sz="15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l'image fundus — du Baseline à l'Ensemble pondéré avec TTA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57200" y="3703320"/>
            <a:ext cx="1920240" cy="1097280"/>
          </a:xfrm>
          <a:prstGeom prst="rect">
            <a:avLst/>
          </a:prstGeom>
          <a:solidFill>
            <a:srgbClr val="162032"/>
          </a:solidFill>
          <a:ln w="12700">
            <a:solidFill>
              <a:srgbClr val="0077B6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457200" y="373075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457200" y="42062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</a:t>
            </a:r>
            <a:endParaRPr lang="en-US" sz="11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d'itération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606040" y="3703320"/>
            <a:ext cx="1920240" cy="1097280"/>
          </a:xfrm>
          <a:prstGeom prst="rect">
            <a:avLst/>
          </a:prstGeom>
          <a:solidFill>
            <a:srgbClr val="162032"/>
          </a:solidFill>
          <a:ln w="12700">
            <a:solidFill>
              <a:srgbClr val="0077B6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2606040" y="373075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2606040" y="42062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Architectures</a:t>
            </a:r>
            <a:endParaRPr lang="en-US" sz="11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DL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754880" y="3703320"/>
            <a:ext cx="1920240" cy="1097280"/>
          </a:xfrm>
          <a:prstGeom prst="rect">
            <a:avLst/>
          </a:prstGeom>
          <a:solidFill>
            <a:srgbClr val="162032"/>
          </a:solidFill>
          <a:ln w="12700">
            <a:solidFill>
              <a:srgbClr val="0077B6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4754880" y="373075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3 662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4754880" y="42062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Images</a:t>
            </a:r>
            <a:endParaRPr lang="en-US" sz="11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APTOS 2019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903720" y="3703320"/>
            <a:ext cx="1920240" cy="1097280"/>
          </a:xfrm>
          <a:prstGeom prst="rect">
            <a:avLst/>
          </a:prstGeom>
          <a:solidFill>
            <a:srgbClr val="162032"/>
          </a:solidFill>
          <a:ln w="12700">
            <a:solidFill>
              <a:srgbClr val="0077B6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1" name="Text 19"/>
          <p:cNvSpPr/>
          <p:nvPr/>
        </p:nvSpPr>
        <p:spPr>
          <a:xfrm>
            <a:off x="6903720" y="373075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99,6%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6903720" y="42062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1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6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0B4D8"/>
                </a:solidFill>
              </a:rPr>
              <a:t>CONTEXTE CLINIQUE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Pourquoi classifier la rétinopathie diabétique ?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20040" y="109728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rétinopathie diabétique </a:t>
            </a: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 la principale cause de cécité chez les adultes d'âge actif. Un dépistage précoce par analyse d'images fundus permet d'éviter la perte de vision dans plus de 90 % des cas.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754880" y="10515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</a:rPr>
              <a:t>Distribution APTOS 2019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754880" y="1508760"/>
            <a:ext cx="1722" cy="384048"/>
          </a:xfrm>
          <a:prstGeom prst="rect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4754880" y="1508760"/>
            <a:ext cx="3108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4731"/>
                </a:solidFill>
              </a:rPr>
              <a:t>Grade 0 — No DR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955280" y="150876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1E293B"/>
                </a:solidFill>
              </a:rPr>
              <a:t>1 805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754880" y="2130552"/>
            <a:ext cx="637294" cy="384048"/>
          </a:xfrm>
          <a:prstGeom prst="rect">
            <a:avLst/>
          </a:prstGeom>
          <a:solidFill>
            <a:srgbClr val="84CC16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4754880" y="2130552"/>
            <a:ext cx="3108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Grade 1 — Mild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955280" y="2130552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1E293B"/>
                </a:solidFill>
              </a:rPr>
              <a:t>370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754880" y="2752344"/>
            <a:ext cx="1720693" cy="384048"/>
          </a:xfrm>
          <a:prstGeom prst="rect">
            <a:avLst/>
          </a:prstGeom>
          <a:solidFill>
            <a:srgbClr val="EAB30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4754880" y="2752344"/>
            <a:ext cx="3108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Grade 2 — Moderate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955280" y="2752344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1E293B"/>
                </a:solidFill>
              </a:rPr>
              <a:t>999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754880" y="3374136"/>
            <a:ext cx="332426" cy="384048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/>
          <p:nvPr/>
        </p:nvSpPr>
        <p:spPr>
          <a:xfrm>
            <a:off x="4754880" y="3374136"/>
            <a:ext cx="3108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Grade 3 — Severe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955280" y="3374136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1E293B"/>
                </a:solidFill>
              </a:rPr>
              <a:t>193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754880" y="3995928"/>
            <a:ext cx="508113" cy="384048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0" name="Text 18"/>
          <p:cNvSpPr/>
          <p:nvPr/>
        </p:nvSpPr>
        <p:spPr>
          <a:xfrm>
            <a:off x="4754880" y="3995928"/>
            <a:ext cx="3108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Grade 4 — Proliferative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955280" y="399592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1E293B"/>
                </a:solidFill>
              </a:rPr>
              <a:t>295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20040" y="2331720"/>
            <a:ext cx="4206240" cy="2514600"/>
          </a:xfrm>
          <a:prstGeom prst="rect">
            <a:avLst/>
          </a:prstGeom>
          <a:solidFill>
            <a:srgbClr val="FFF8E1"/>
          </a:solidFill>
          <a:ln w="19050">
            <a:solidFill>
              <a:srgbClr val="FF9F1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3" name="Text 21"/>
          <p:cNvSpPr/>
          <p:nvPr/>
        </p:nvSpPr>
        <p:spPr>
          <a:xfrm>
            <a:off x="502920" y="24231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9F1C"/>
                </a:solidFill>
              </a:rPr>
              <a:t>⚠  Défis principaux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02920" y="292608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9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 déséquilibre entre les classes (1 805 vs 193)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502920" y="338328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9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Grades adjacents cliniquement ambigus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502920" y="384048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9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Images fundus bruitées et hétérogènes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502920" y="429768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9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Métrique adaptée : Balanced Accuracy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0B4D8"/>
                </a:solidFill>
              </a:rPr>
              <a:t>PROGRESSION MÉTHODOLOGIQUE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Vue d'ensemble des 6 phases d'itération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20040" y="1005840"/>
            <a:ext cx="2743200" cy="1554480"/>
          </a:xfrm>
          <a:prstGeom prst="rect">
            <a:avLst/>
          </a:prstGeom>
          <a:solidFill>
            <a:srgbClr val="162032"/>
          </a:solidFill>
          <a:ln w="19050">
            <a:solidFill>
              <a:srgbClr val="EF476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484632" y="1170432"/>
            <a:ext cx="475488" cy="475488"/>
          </a:xfrm>
          <a:prstGeom prst="ellipse">
            <a:avLst/>
          </a:prstGeom>
          <a:solidFill>
            <a:srgbClr val="EF476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484632" y="11704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2606040" y="1188720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EF476F"/>
                </a:solidFill>
              </a:rPr>
              <a:t>NB 02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29768" y="169164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Baseline Dataset 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29768" y="2084832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94A3B8"/>
                </a:solidFill>
              </a:rPr>
              <a:t>99% suspect → data leakage ?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46120" y="1005840"/>
            <a:ext cx="2743200" cy="1554480"/>
          </a:xfrm>
          <a:prstGeom prst="rect">
            <a:avLst/>
          </a:prstGeom>
          <a:solidFill>
            <a:srgbClr val="162032"/>
          </a:solidFill>
          <a:ln w="19050">
            <a:solidFill>
              <a:srgbClr val="FF9F1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2" name="Shape 10"/>
          <p:cNvSpPr/>
          <p:nvPr/>
        </p:nvSpPr>
        <p:spPr>
          <a:xfrm>
            <a:off x="3410712" y="1170432"/>
            <a:ext cx="475488" cy="475488"/>
          </a:xfrm>
          <a:prstGeom prst="ellipse">
            <a:avLst/>
          </a:prstGeom>
          <a:solidFill>
            <a:srgbClr val="FF9F1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/>
          <p:nvPr/>
        </p:nvSpPr>
        <p:spPr>
          <a:xfrm>
            <a:off x="3410712" y="11704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</a:rPr>
              <a:t>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532120" y="1188720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FF9F1C"/>
                </a:solidFill>
              </a:rPr>
              <a:t>NB 01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355848" y="169164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Baseline APTOS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355848" y="2084832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94A3B8"/>
                </a:solidFill>
              </a:rPr>
              <a:t>Overfitting + classes rares ignorées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172200" y="1005840"/>
            <a:ext cx="2743200" cy="1554480"/>
          </a:xfrm>
          <a:prstGeom prst="rect">
            <a:avLst/>
          </a:prstGeom>
          <a:solidFill>
            <a:srgbClr val="162032"/>
          </a:solidFill>
          <a:ln w="19050">
            <a:solidFill>
              <a:srgbClr val="FF9F1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8" name="Shape 16"/>
          <p:cNvSpPr/>
          <p:nvPr/>
        </p:nvSpPr>
        <p:spPr>
          <a:xfrm>
            <a:off x="6336792" y="1170432"/>
            <a:ext cx="475488" cy="475488"/>
          </a:xfrm>
          <a:prstGeom prst="ellipse">
            <a:avLst/>
          </a:prstGeom>
          <a:solidFill>
            <a:srgbClr val="FF9F1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9" name="Text 17"/>
          <p:cNvSpPr/>
          <p:nvPr/>
        </p:nvSpPr>
        <p:spPr>
          <a:xfrm>
            <a:off x="6336792" y="11704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</a:rPr>
              <a:t>3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458200" y="1188720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FF9F1C"/>
                </a:solidFill>
              </a:rPr>
              <a:t>NB 03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281928" y="169164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Advanced v1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281928" y="2084832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94A3B8"/>
                </a:solidFill>
              </a:rPr>
              <a:t>70,8% — double-correction + hue jitter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20040" y="2834640"/>
            <a:ext cx="2743200" cy="1554480"/>
          </a:xfrm>
          <a:prstGeom prst="rect">
            <a:avLst/>
          </a:prstGeom>
          <a:solidFill>
            <a:srgbClr val="162032"/>
          </a:solidFill>
          <a:ln w="19050">
            <a:solidFill>
              <a:srgbClr val="60A5F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4" name="Shape 22"/>
          <p:cNvSpPr/>
          <p:nvPr/>
        </p:nvSpPr>
        <p:spPr>
          <a:xfrm>
            <a:off x="484632" y="2999232"/>
            <a:ext cx="475488" cy="475488"/>
          </a:xfrm>
          <a:prstGeom prst="ellipse">
            <a:avLst/>
          </a:prstGeom>
          <a:solidFill>
            <a:srgbClr val="60A5F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5" name="Text 23"/>
          <p:cNvSpPr/>
          <p:nvPr/>
        </p:nvSpPr>
        <p:spPr>
          <a:xfrm>
            <a:off x="484632" y="29992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</a:rPr>
              <a:t>4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2606040" y="3017520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0A5FA"/>
                </a:solidFill>
              </a:rPr>
              <a:t>NB 04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29768" y="352044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Advanced v2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29768" y="3913632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94A3B8"/>
                </a:solidFill>
              </a:rPr>
              <a:t>Early stopping (50 ep., patience=8)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246120" y="2834640"/>
            <a:ext cx="2743200" cy="1554480"/>
          </a:xfrm>
          <a:prstGeom prst="rect">
            <a:avLst/>
          </a:prstGeom>
          <a:solidFill>
            <a:srgbClr val="162032"/>
          </a:solidFill>
          <a:ln w="19050">
            <a:solidFill>
              <a:srgbClr val="06D6A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0" name="Shape 28"/>
          <p:cNvSpPr/>
          <p:nvPr/>
        </p:nvSpPr>
        <p:spPr>
          <a:xfrm>
            <a:off x="3410712" y="2999232"/>
            <a:ext cx="475488" cy="475488"/>
          </a:xfrm>
          <a:prstGeom prst="ellipse">
            <a:avLst/>
          </a:prstGeom>
          <a:solidFill>
            <a:srgbClr val="06D6A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1" name="Text 29"/>
          <p:cNvSpPr/>
          <p:nvPr/>
        </p:nvSpPr>
        <p:spPr>
          <a:xfrm>
            <a:off x="3410712" y="29992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</a:rPr>
              <a:t>5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5532120" y="3017520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06D6A0"/>
                </a:solidFill>
              </a:rPr>
              <a:t>NB 05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3355848" y="352044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Final APTOS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355848" y="3913632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94A3B8"/>
                </a:solidFill>
              </a:rPr>
              <a:t>~83% — TTA + label smoothing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172200" y="2834640"/>
            <a:ext cx="2743200" cy="1554480"/>
          </a:xfrm>
          <a:prstGeom prst="rect">
            <a:avLst/>
          </a:prstGeom>
          <a:solidFill>
            <a:srgbClr val="162032"/>
          </a:solidFill>
          <a:ln w="19050">
            <a:solidFill>
              <a:srgbClr val="06D6A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6" name="Shape 34"/>
          <p:cNvSpPr/>
          <p:nvPr/>
        </p:nvSpPr>
        <p:spPr>
          <a:xfrm>
            <a:off x="6336792" y="2999232"/>
            <a:ext cx="475488" cy="475488"/>
          </a:xfrm>
          <a:prstGeom prst="ellipse">
            <a:avLst/>
          </a:prstGeom>
          <a:solidFill>
            <a:srgbClr val="06D6A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7" name="Text 35"/>
          <p:cNvSpPr/>
          <p:nvPr/>
        </p:nvSpPr>
        <p:spPr>
          <a:xfrm>
            <a:off x="6336792" y="29992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</a:rPr>
              <a:t>6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8458200" y="3017520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06D6A0"/>
                </a:solidFill>
              </a:rPr>
              <a:t>NB 06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281928" y="352044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Final Dataset 2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6281928" y="3913632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94A3B8"/>
                </a:solidFill>
              </a:rPr>
              <a:t>99,6% accuracy test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4297680" y="2743200"/>
            <a:ext cx="548640" cy="109728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2" name="Text 40"/>
          <p:cNvSpPr/>
          <p:nvPr/>
        </p:nvSpPr>
        <p:spPr>
          <a:xfrm>
            <a:off x="4297680" y="2834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B4D8"/>
                </a:solidFill>
              </a:rPr>
              <a:t>▼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6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0B4D8"/>
                </a:solidFill>
              </a:rPr>
              <a:t>PHASES 1 &amp; 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</a:rPr>
              <a:t>Baseline : données suspectes &amp; overfitting documenté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320040" y="1051560"/>
            <a:ext cx="4114800" cy="38404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320040" y="1051560"/>
            <a:ext cx="4114800" cy="411480"/>
          </a:xfrm>
          <a:prstGeom prst="rect">
            <a:avLst/>
          </a:prstGeom>
          <a:solidFill>
            <a:srgbClr val="EF476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411480" y="105156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Phase 1 — Dataset 2 (NB 02)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0040" y="1463040"/>
            <a:ext cx="4114800" cy="493776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411480" y="1463040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F476F"/>
                </a:solidFill>
              </a:rPr>
              <a:t>Dataset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1417320" y="1463040"/>
            <a:ext cx="2926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</a:rPr>
              <a:t>Kaggle shajinrp — déjà trié par classe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20040" y="1956816"/>
            <a:ext cx="4114800" cy="49377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411480" y="1956816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F476F"/>
                </a:solidFill>
              </a:rPr>
              <a:t>Modèle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1417320" y="1956816"/>
            <a:ext cx="2926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</a:rPr>
              <a:t>ResNet18 simple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20040" y="2450592"/>
            <a:ext cx="4114800" cy="493776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411480" y="2450592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F476F"/>
                </a:solidFill>
              </a:rPr>
              <a:t>Résultat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1417320" y="2450592"/>
            <a:ext cx="2926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</a:rPr>
              <a:t>99,3–99,4 % dès les 1res epochs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20040" y="2944368"/>
            <a:ext cx="4114800" cy="49377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411480" y="2944368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F476F"/>
                </a:solidFill>
              </a:rPr>
              <a:t>Problème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1417320" y="2944368"/>
            <a:ext cx="2926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</a:rPr>
              <a:t>Convergence trop rapide → suspecte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320040" y="3438144"/>
            <a:ext cx="4114800" cy="493776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1" name="Text 19"/>
          <p:cNvSpPr/>
          <p:nvPr/>
        </p:nvSpPr>
        <p:spPr>
          <a:xfrm>
            <a:off x="411480" y="3438144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F476F"/>
                </a:solidFill>
              </a:rPr>
              <a:t>Hypothèse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417320" y="3438144"/>
            <a:ext cx="2926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</a:rPr>
              <a:t>Data leakage ou dataset trop facile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320040" y="3931920"/>
            <a:ext cx="4114800" cy="49377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4" name="Text 22"/>
          <p:cNvSpPr/>
          <p:nvPr/>
        </p:nvSpPr>
        <p:spPr>
          <a:xfrm>
            <a:off x="411480" y="3931920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F476F"/>
                </a:solidFill>
              </a:rPr>
              <a:t>Décision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1417320" y="3931920"/>
            <a:ext cx="2926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</a:rPr>
              <a:t>Basculer sur données officielles APTOS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4709160" y="1051560"/>
            <a:ext cx="4114800" cy="38404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7" name="Shape 25"/>
          <p:cNvSpPr/>
          <p:nvPr/>
        </p:nvSpPr>
        <p:spPr>
          <a:xfrm>
            <a:off x="4709160" y="1051560"/>
            <a:ext cx="4114800" cy="411480"/>
          </a:xfrm>
          <a:prstGeom prst="rect">
            <a:avLst/>
          </a:prstGeom>
          <a:solidFill>
            <a:srgbClr val="FF9F1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8" name="Text 26"/>
          <p:cNvSpPr/>
          <p:nvPr/>
        </p:nvSpPr>
        <p:spPr>
          <a:xfrm>
            <a:off x="4800600" y="105156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Phase 2 — APTOS 2019 (NB 01)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4709160" y="1463040"/>
            <a:ext cx="4114800" cy="493776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0" name="Text 28"/>
          <p:cNvSpPr/>
          <p:nvPr/>
        </p:nvSpPr>
        <p:spPr>
          <a:xfrm>
            <a:off x="4800600" y="1463040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9F1C"/>
                </a:solidFill>
              </a:rPr>
              <a:t>Dataset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5806440" y="1463040"/>
            <a:ext cx="2926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</a:rPr>
              <a:t>APTOS 2019 — 3 662 images fundus réelles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4709160" y="1956816"/>
            <a:ext cx="4114800" cy="49377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3" name="Text 31"/>
          <p:cNvSpPr/>
          <p:nvPr/>
        </p:nvSpPr>
        <p:spPr>
          <a:xfrm>
            <a:off x="4800600" y="1956816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9F1C"/>
                </a:solidFill>
              </a:rPr>
              <a:t>Modèles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5806440" y="1956816"/>
            <a:ext cx="2926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</a:rPr>
              <a:t>ResNet18 + ResNet34 (ImageNet)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4709160" y="2450592"/>
            <a:ext cx="4114800" cy="493776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6" name="Text 34"/>
          <p:cNvSpPr/>
          <p:nvPr/>
        </p:nvSpPr>
        <p:spPr>
          <a:xfrm>
            <a:off x="4800600" y="2450592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9F1C"/>
                </a:solidFill>
              </a:rPr>
              <a:t>Val Acc.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5806440" y="2450592"/>
            <a:ext cx="2926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</a:rPr>
              <a:t>~82–83 %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4709160" y="2944368"/>
            <a:ext cx="4114800" cy="49377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9" name="Text 37"/>
          <p:cNvSpPr/>
          <p:nvPr/>
        </p:nvSpPr>
        <p:spPr>
          <a:xfrm>
            <a:off x="4800600" y="2944368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9F1C"/>
                </a:solidFill>
              </a:rPr>
              <a:t>Problème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5806440" y="2944368"/>
            <a:ext cx="2926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</a:rPr>
              <a:t>Val loss oscille → overfitting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4709160" y="3438144"/>
            <a:ext cx="4114800" cy="493776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2" name="Text 40"/>
          <p:cNvSpPr/>
          <p:nvPr/>
        </p:nvSpPr>
        <p:spPr>
          <a:xfrm>
            <a:off x="4800600" y="3438144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9F1C"/>
                </a:solidFill>
              </a:rPr>
              <a:t>Rappel 0/1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5806440" y="3438144"/>
            <a:ext cx="2926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</a:rPr>
              <a:t>~90 % (classes majoritaires)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4709160" y="3931920"/>
            <a:ext cx="4114800" cy="49377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5" name="Text 43"/>
          <p:cNvSpPr/>
          <p:nvPr/>
        </p:nvSpPr>
        <p:spPr>
          <a:xfrm>
            <a:off x="4800600" y="3931920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9F1C"/>
                </a:solidFill>
              </a:rPr>
              <a:t>Rappel 3/4</a:t>
            </a:r>
            <a:endParaRPr lang="en-US" sz="1150" dirty="0"/>
          </a:p>
        </p:txBody>
      </p:sp>
      <p:sp>
        <p:nvSpPr>
          <p:cNvPr id="46" name="Text 44"/>
          <p:cNvSpPr/>
          <p:nvPr/>
        </p:nvSpPr>
        <p:spPr>
          <a:xfrm>
            <a:off x="5806440" y="3931920"/>
            <a:ext cx="2926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</a:rPr>
              <a:t>48–49 % (quasi aléatoire !)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6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0B4D8"/>
                </a:solidFill>
              </a:rPr>
              <a:t>PHASE 3 — NB 03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</a:rPr>
              <a:t>Advanced v1 : 4 modèles, 2 GPUs, Ensemble — résultat 70,8 %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20040" y="105156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</a:rPr>
              <a:t>4 architectures diversifiées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0040" y="1417320"/>
            <a:ext cx="1188720" cy="914400"/>
          </a:xfrm>
          <a:prstGeom prst="rect">
            <a:avLst/>
          </a:prstGeom>
          <a:solidFill>
            <a:srgbClr val="3B82F6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320040" y="1463040"/>
            <a:ext cx="1188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R50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320040" y="190195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</a:rPr>
              <a:t>ResNet50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618488" y="1417320"/>
            <a:ext cx="1188720" cy="914400"/>
          </a:xfrm>
          <a:prstGeom prst="rect">
            <a:avLst/>
          </a:prstGeom>
          <a:solidFill>
            <a:srgbClr val="8B5CF6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1618488" y="1463040"/>
            <a:ext cx="1188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EN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618488" y="190195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</a:rPr>
              <a:t>EfficientNet-B0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916936" y="1417320"/>
            <a:ext cx="1188720" cy="914400"/>
          </a:xfrm>
          <a:prstGeom prst="rect">
            <a:avLst/>
          </a:prstGeom>
          <a:solidFill>
            <a:srgbClr val="10B981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/>
          <p:nvPr/>
        </p:nvSpPr>
        <p:spPr>
          <a:xfrm>
            <a:off x="2916936" y="1463040"/>
            <a:ext cx="1188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DN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2916936" y="190195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</a:rPr>
              <a:t>DenseNet121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215384" y="1417320"/>
            <a:ext cx="1188720" cy="914400"/>
          </a:xfrm>
          <a:prstGeom prst="rect">
            <a:avLst/>
          </a:prstGeom>
          <a:solidFill>
            <a:srgbClr val="F59E0B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4215384" y="1463040"/>
            <a:ext cx="1188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R18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4215384" y="190195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</a:rPr>
              <a:t>ResNet18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532120" y="16276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77B6"/>
                </a:solidFill>
              </a:rPr>
              <a:t>→</a:t>
            </a:r>
            <a:endParaRPr lang="en-US" sz="2800" dirty="0"/>
          </a:p>
        </p:txBody>
      </p:sp>
      <p:sp>
        <p:nvSpPr>
          <p:cNvPr id="19" name="Shape 17"/>
          <p:cNvSpPr/>
          <p:nvPr/>
        </p:nvSpPr>
        <p:spPr>
          <a:xfrm>
            <a:off x="6035040" y="1417320"/>
            <a:ext cx="1554480" cy="914400"/>
          </a:xfrm>
          <a:prstGeom prst="rect">
            <a:avLst/>
          </a:prstGeom>
          <a:solidFill>
            <a:srgbClr val="0077B6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0" name="Text 18"/>
          <p:cNvSpPr/>
          <p:nvPr/>
        </p:nvSpPr>
        <p:spPr>
          <a:xfrm>
            <a:off x="6035040" y="141732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FFFFFF"/>
                </a:solidFill>
              </a:rPr>
              <a:t>Ensemble</a:t>
            </a:r>
            <a:endParaRPr lang="en-US" sz="16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FFFFFF"/>
                </a:solidFill>
              </a:rPr>
              <a:t>70,8%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320040" y="2514600"/>
            <a:ext cx="4206240" cy="2286000"/>
          </a:xfrm>
          <a:prstGeom prst="rect">
            <a:avLst/>
          </a:prstGeom>
          <a:solidFill>
            <a:srgbClr val="F0FFF4"/>
          </a:solidFill>
          <a:ln w="12700">
            <a:solidFill>
              <a:srgbClr val="06D6A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2" name="Text 20"/>
          <p:cNvSpPr/>
          <p:nvPr/>
        </p:nvSpPr>
        <p:spPr>
          <a:xfrm>
            <a:off x="502920" y="260604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D6A0"/>
                </a:solidFill>
              </a:rPr>
              <a:t>✓  Améliorations apportées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02920" y="303580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D6A0"/>
                </a:solidFill>
              </a:rPr>
              <a:t>✓  </a:t>
            </a:r>
            <a:r>
              <a:rPr lang="en-US" sz="1200" dirty="0">
                <a:solidFill>
                  <a:srgbClr val="1E293B"/>
                </a:solidFill>
              </a:rPr>
              <a:t>Entraînement parallèle sur 2 GPUs Tesla T4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02920" y="3419856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D6A0"/>
                </a:solidFill>
              </a:rPr>
              <a:t>✓  </a:t>
            </a:r>
            <a:r>
              <a:rPr lang="en-US" sz="1200" dirty="0">
                <a:solidFill>
                  <a:srgbClr val="1E293B"/>
                </a:solidFill>
              </a:rPr>
              <a:t>WeightedRandomSampler + poids de loss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02920" y="3803904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D6A0"/>
                </a:solidFill>
              </a:rPr>
              <a:t>✓  </a:t>
            </a:r>
            <a:r>
              <a:rPr lang="en-US" sz="1200" dirty="0">
                <a:solidFill>
                  <a:srgbClr val="1E293B"/>
                </a:solidFill>
              </a:rPr>
              <a:t>Augmentation étendue (flips, rotation ±20°, etc.)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02920" y="418795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D6A0"/>
                </a:solidFill>
              </a:rPr>
              <a:t>✓  </a:t>
            </a:r>
            <a:r>
              <a:rPr lang="en-US" sz="1200" dirty="0">
                <a:solidFill>
                  <a:srgbClr val="1E293B"/>
                </a:solidFill>
              </a:rPr>
              <a:t>Cosine Annealing scheduler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02920" y="45720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D6A0"/>
                </a:solidFill>
              </a:rPr>
              <a:t>✓  </a:t>
            </a:r>
            <a:r>
              <a:rPr lang="en-US" sz="1200" dirty="0">
                <a:solidFill>
                  <a:srgbClr val="1E293B"/>
                </a:solidFill>
              </a:rPr>
              <a:t>Grad-CAM from scratch (sans lib externe)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709160" y="2514600"/>
            <a:ext cx="4114800" cy="2286000"/>
          </a:xfrm>
          <a:prstGeom prst="rect">
            <a:avLst/>
          </a:prstGeom>
          <a:solidFill>
            <a:srgbClr val="FFF1F2"/>
          </a:solidFill>
          <a:ln w="12700">
            <a:solidFill>
              <a:srgbClr val="EF476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9" name="Text 27"/>
          <p:cNvSpPr/>
          <p:nvPr/>
        </p:nvSpPr>
        <p:spPr>
          <a:xfrm>
            <a:off x="4892040" y="260604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F476F"/>
                </a:solidFill>
              </a:rPr>
              <a:t>✗  Faiblesses identifiées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892040" y="3035808"/>
            <a:ext cx="3749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EF476F"/>
                </a:solidFill>
              </a:rPr>
              <a:t>✗  </a:t>
            </a:r>
            <a:r>
              <a:rPr lang="en-US" sz="1200" dirty="0">
                <a:solidFill>
                  <a:srgbClr val="1E293B"/>
                </a:solidFill>
              </a:rPr>
              <a:t>10 epochs insuffisantes (courbes non convergées)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892040" y="3547872"/>
            <a:ext cx="3749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EF476F"/>
                </a:solidFill>
              </a:rPr>
              <a:t>✗  </a:t>
            </a:r>
            <a:r>
              <a:rPr lang="en-US" sz="1200" dirty="0">
                <a:solidFill>
                  <a:srgbClr val="1E293B"/>
                </a:solidFill>
              </a:rPr>
              <a:t>Double-correction déséquilibre → instabilité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892040" y="4059936"/>
            <a:ext cx="3749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EF476F"/>
                </a:solidFill>
              </a:rPr>
              <a:t>✗  </a:t>
            </a:r>
            <a:r>
              <a:rPr lang="en-US" sz="1200" dirty="0">
                <a:solidFill>
                  <a:srgbClr val="1E293B"/>
                </a:solidFill>
              </a:rPr>
              <a:t>Hue jitter détruit les indices couleur des lésions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6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0B4D8"/>
                </a:solidFill>
              </a:rPr>
              <a:t>PHASES 4 &amp; 5 — NB 04 / 05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Early stopping + version finale APTOS → ~83 %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20040" y="1005840"/>
            <a:ext cx="411480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320040" y="1005840"/>
            <a:ext cx="109728" cy="1371600"/>
          </a:xfrm>
          <a:prstGeom prst="rect">
            <a:avLst/>
          </a:prstGeom>
          <a:solidFill>
            <a:srgbClr val="60A5F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566928" y="10515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</a:rPr>
              <a:t>Phase 4 — Early Stopping (NB 04)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66928" y="1463040"/>
            <a:ext cx="37490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E293B"/>
                </a:solidFill>
              </a:rPr>
              <a:t>patience = 8  ·  max 50 epochs
Poids de loss adoucis </a:t>
            </a:r>
            <a:r>
              <a:rPr lang="en-US" sz="1200" i="1" dirty="0">
                <a:solidFill>
                  <a:srgbClr val="1E293B"/>
                </a:solidFill>
              </a:rPr>
              <a:t>(√ poids inverses)</a:t>
            </a:r>
            <a:endParaRPr lang="en-US" sz="12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E293B"/>
                </a:solidFill>
              </a:rPr>
              <a:t>Métrique ajoutée : balanced_accuracy_score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09160" y="1005840"/>
            <a:ext cx="4114800" cy="38862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" name="Shape 8"/>
          <p:cNvSpPr/>
          <p:nvPr/>
        </p:nvSpPr>
        <p:spPr>
          <a:xfrm>
            <a:off x="4709160" y="1005840"/>
            <a:ext cx="4114800" cy="384048"/>
          </a:xfrm>
          <a:prstGeom prst="rect">
            <a:avLst/>
          </a:prstGeom>
          <a:solidFill>
            <a:srgbClr val="06D6A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4818888" y="100584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Phase 5 — Final APTOS (NB 05)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709160" y="1389888"/>
            <a:ext cx="4114800" cy="603504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/>
          <p:nvPr/>
        </p:nvSpPr>
        <p:spPr>
          <a:xfrm>
            <a:off x="4773168" y="1389888"/>
            <a:ext cx="2011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6D6A0"/>
                </a:solidFill>
              </a:rPr>
              <a:t>●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983480" y="1389888"/>
            <a:ext cx="1554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Rotation 360°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37960" y="1389888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4748B"/>
                </a:solidFill>
              </a:rPr>
              <a:t>La rétine n'a pas d'orientation canonique ✅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709160" y="1993392"/>
            <a:ext cx="4114800" cy="60350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/>
          <p:nvPr/>
        </p:nvSpPr>
        <p:spPr>
          <a:xfrm>
            <a:off x="4773168" y="1993392"/>
            <a:ext cx="2011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EF476F"/>
                </a:solidFill>
              </a:rPr>
              <a:t>●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983480" y="1993392"/>
            <a:ext cx="1554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Hue/Saturation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537960" y="1993392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4748B"/>
                </a:solidFill>
              </a:rPr>
              <a:t>Supprimés — détruisent les indices couleur ❌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709160" y="2596896"/>
            <a:ext cx="4114800" cy="603504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1" name="Text 19"/>
          <p:cNvSpPr/>
          <p:nvPr/>
        </p:nvSpPr>
        <p:spPr>
          <a:xfrm>
            <a:off x="4773168" y="2596896"/>
            <a:ext cx="2011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6D6A0"/>
                </a:solidFill>
              </a:rPr>
              <a:t>●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983480" y="2596896"/>
            <a:ext cx="1554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Label Smoothing ε=0,1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537960" y="2596896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4748B"/>
                </a:solidFill>
              </a:rPr>
              <a:t>Grades adjacents cliniquement ambigus ✅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709160" y="3200400"/>
            <a:ext cx="4114800" cy="60350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5" name="Text 23"/>
          <p:cNvSpPr/>
          <p:nvPr/>
        </p:nvSpPr>
        <p:spPr>
          <a:xfrm>
            <a:off x="4773168" y="3200400"/>
            <a:ext cx="2011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6D6A0"/>
                </a:solidFill>
              </a:rPr>
              <a:t>●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983480" y="3200400"/>
            <a:ext cx="1554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TTA × 4 vues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537960" y="3200400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4748B"/>
                </a:solidFill>
              </a:rPr>
              <a:t>orig + flip H/V + rotation 180° — moyenne ✅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709160" y="3803904"/>
            <a:ext cx="4114800" cy="603504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9" name="Text 27"/>
          <p:cNvSpPr/>
          <p:nvPr/>
        </p:nvSpPr>
        <p:spPr>
          <a:xfrm>
            <a:off x="4773168" y="3803904"/>
            <a:ext cx="2011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6D6A0"/>
                </a:solidFill>
              </a:rPr>
              <a:t>●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983480" y="3803904"/>
            <a:ext cx="1554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Ensemble pondéré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537960" y="3803904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4748B"/>
                </a:solidFill>
              </a:rPr>
              <a:t>Chaque modèle pondéré par sa val_accuracy ✅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320040" y="2514600"/>
            <a:ext cx="4114800" cy="2377440"/>
          </a:xfrm>
          <a:prstGeom prst="rect">
            <a:avLst/>
          </a:prstGeom>
          <a:solidFill>
            <a:srgbClr val="EFF6FF"/>
          </a:solidFill>
          <a:ln w="12700">
            <a:solidFill>
              <a:srgbClr val="0077B6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3" name="Text 31"/>
          <p:cNvSpPr/>
          <p:nvPr/>
        </p:nvSpPr>
        <p:spPr>
          <a:xfrm>
            <a:off x="502920" y="260604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77B6"/>
                </a:solidFill>
              </a:rPr>
              <a:t>Résultat final APTOS 2019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502920" y="2999232"/>
            <a:ext cx="3749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0077B6"/>
                </a:solidFill>
              </a:rPr>
              <a:t>~83 %</a:t>
            </a:r>
            <a:endParaRPr lang="en-US" sz="5200" dirty="0"/>
          </a:p>
        </p:txBody>
      </p:sp>
      <p:sp>
        <p:nvSpPr>
          <p:cNvPr id="35" name="Text 33"/>
          <p:cNvSpPr/>
          <p:nvPr/>
        </p:nvSpPr>
        <p:spPr>
          <a:xfrm>
            <a:off x="502920" y="3730752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64748B"/>
                </a:solidFill>
              </a:rPr>
              <a:t>accuracy test équilibré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502920" y="406908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1E293B"/>
                </a:solidFill>
              </a:rPr>
              <a:t>Cohérent avec la difficulté clinique réelle du dataset</a:t>
            </a:r>
            <a:endParaRPr lang="en-US" sz="11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1E293B"/>
                </a:solidFill>
              </a:rPr>
              <a:t>(images bruitées, déséquilibre, grades ambigus)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0B4D8"/>
                </a:solidFill>
              </a:rPr>
              <a:t>PHASE 6 — NB 06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Résultats finaux — Dataset 2 : 99,6 %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20040" y="100584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0" b="1" dirty="0">
                <a:solidFill>
                  <a:srgbClr val="06D6A0"/>
                </a:solidFill>
              </a:rPr>
              <a:t>99,6%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320040" y="228600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400" dirty="0">
                <a:solidFill>
                  <a:srgbClr val="94A3B8"/>
                </a:solidFill>
              </a:rPr>
              <a:t>accuracy test équilibré</a:t>
            </a:r>
            <a:endParaRPr lang="en-US" sz="1400" dirty="0"/>
          </a:p>
          <a:p>
            <a:pPr marL="0" indent="0" algn="ctr">
              <a:lnSpc>
                <a:spcPct val="140000"/>
              </a:lnSpc>
              <a:buNone/>
            </a:pPr>
            <a:r>
              <a:rPr lang="en-US" sz="1400" dirty="0">
                <a:solidFill>
                  <a:srgbClr val="94A3B8"/>
                </a:solidFill>
              </a:rPr>
              <a:t>250 images avec TTA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20040" y="306324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00B4D8"/>
                </a:solidFill>
              </a:rPr>
              <a:t>0,016</a:t>
            </a:r>
            <a:endParaRPr lang="en-US" sz="5200" dirty="0"/>
          </a:p>
        </p:txBody>
      </p:sp>
      <p:sp>
        <p:nvSpPr>
          <p:cNvPr id="8" name="Text 6"/>
          <p:cNvSpPr/>
          <p:nvPr/>
        </p:nvSpPr>
        <p:spPr>
          <a:xfrm>
            <a:off x="320040" y="374904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200" dirty="0">
                <a:solidFill>
                  <a:srgbClr val="94A3B8"/>
                </a:solidFill>
              </a:rPr>
              <a:t>Mean Absolute Grade Error</a:t>
            </a:r>
            <a:endParaRPr lang="en-US" sz="1200" dirty="0"/>
          </a:p>
          <a:p>
            <a:pPr marL="0" indent="0" algn="ctr">
              <a:lnSpc>
                <a:spcPct val="140000"/>
              </a:lnSpc>
              <a:buNone/>
            </a:pPr>
            <a:r>
              <a:rPr lang="en-US" sz="1200" dirty="0">
                <a:solidFill>
                  <a:srgbClr val="94A3B8"/>
                </a:solidFill>
              </a:rPr>
              <a:t>(erreur quasi nulle entre grades)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206240" y="1005840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B4D8"/>
                </a:solidFill>
              </a:rPr>
              <a:t>Performances par architecture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06240" y="1417320"/>
            <a:ext cx="4663440" cy="530352"/>
          </a:xfrm>
          <a:prstGeom prst="rect">
            <a:avLst/>
          </a:prstGeom>
          <a:solidFill>
            <a:srgbClr val="0F1F3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4297680" y="1417320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</a:rPr>
              <a:t>ResNet50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263640" y="1545336"/>
            <a:ext cx="1548262" cy="274320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/>
          <p:nvPr/>
        </p:nvSpPr>
        <p:spPr>
          <a:xfrm>
            <a:off x="7909560" y="1417320"/>
            <a:ext cx="822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FFFFFF"/>
                </a:solidFill>
              </a:rPr>
              <a:t>99,6 %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206240" y="2020824"/>
            <a:ext cx="4663440" cy="530352"/>
          </a:xfrm>
          <a:prstGeom prst="rect">
            <a:avLst/>
          </a:prstGeom>
          <a:solidFill>
            <a:srgbClr val="0F1F3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4297680" y="2020824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</a:rPr>
              <a:t>EfficientNet-B0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263640" y="2148840"/>
            <a:ext cx="1554480" cy="274320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/>
          <p:nvPr/>
        </p:nvSpPr>
        <p:spPr>
          <a:xfrm>
            <a:off x="7909560" y="2020824"/>
            <a:ext cx="822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FFFFFF"/>
                </a:solidFill>
              </a:rPr>
              <a:t>100 %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206240" y="2624328"/>
            <a:ext cx="4663440" cy="530352"/>
          </a:xfrm>
          <a:prstGeom prst="rect">
            <a:avLst/>
          </a:prstGeom>
          <a:solidFill>
            <a:srgbClr val="0F1F3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9" name="Text 17"/>
          <p:cNvSpPr/>
          <p:nvPr/>
        </p:nvSpPr>
        <p:spPr>
          <a:xfrm>
            <a:off x="4297680" y="2624328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</a:rPr>
              <a:t>DenseNet121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263640" y="2752344"/>
            <a:ext cx="1548262" cy="274320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1" name="Text 19"/>
          <p:cNvSpPr/>
          <p:nvPr/>
        </p:nvSpPr>
        <p:spPr>
          <a:xfrm>
            <a:off x="7909560" y="2624328"/>
            <a:ext cx="822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FFFFFF"/>
                </a:solidFill>
              </a:rPr>
              <a:t>99,6 %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206240" y="3227832"/>
            <a:ext cx="4663440" cy="530352"/>
          </a:xfrm>
          <a:prstGeom prst="rect">
            <a:avLst/>
          </a:prstGeom>
          <a:solidFill>
            <a:srgbClr val="0F1F3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3" name="Text 21"/>
          <p:cNvSpPr/>
          <p:nvPr/>
        </p:nvSpPr>
        <p:spPr>
          <a:xfrm>
            <a:off x="4297680" y="3227832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</a:rPr>
              <a:t>ResNet18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263640" y="3355848"/>
            <a:ext cx="1554480" cy="274320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5" name="Text 23"/>
          <p:cNvSpPr/>
          <p:nvPr/>
        </p:nvSpPr>
        <p:spPr>
          <a:xfrm>
            <a:off x="7909560" y="3227832"/>
            <a:ext cx="822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FFFFFF"/>
                </a:solidFill>
              </a:rPr>
              <a:t>100 %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4206240" y="3831336"/>
            <a:ext cx="4663440" cy="530352"/>
          </a:xfrm>
          <a:prstGeom prst="rect">
            <a:avLst/>
          </a:prstGeom>
          <a:solidFill>
            <a:srgbClr val="162032"/>
          </a:solidFill>
          <a:ln w="12700">
            <a:solidFill>
              <a:srgbClr val="06D6A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7" name="Text 25"/>
          <p:cNvSpPr/>
          <p:nvPr/>
        </p:nvSpPr>
        <p:spPr>
          <a:xfrm>
            <a:off x="4297680" y="3831336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6D6A0"/>
                </a:solidFill>
              </a:rPr>
              <a:t>Ensemble pondéré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263640" y="3959352"/>
            <a:ext cx="1548262" cy="274320"/>
          </a:xfrm>
          <a:prstGeom prst="rect">
            <a:avLst/>
          </a:prstGeom>
          <a:solidFill>
            <a:srgbClr val="06D6A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9" name="Text 27"/>
          <p:cNvSpPr/>
          <p:nvPr/>
        </p:nvSpPr>
        <p:spPr>
          <a:xfrm>
            <a:off x="7909560" y="3831336"/>
            <a:ext cx="822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06D6A0"/>
                </a:solidFill>
              </a:rPr>
              <a:t>99,6 %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4206240" y="4343400"/>
            <a:ext cx="4663440" cy="548640"/>
          </a:xfrm>
          <a:prstGeom prst="rect">
            <a:avLst/>
          </a:prstGeom>
          <a:solidFill>
            <a:srgbClr val="162032"/>
          </a:solidFill>
          <a:ln w="12700">
            <a:solidFill>
              <a:srgbClr val="60A5F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1" name="Text 29"/>
          <p:cNvSpPr/>
          <p:nvPr/>
        </p:nvSpPr>
        <p:spPr>
          <a:xfrm>
            <a:off x="4343400" y="434340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93C5FD"/>
                </a:solidFill>
              </a:rPr>
              <a:t>Quand le modèle se trompe, il reste cliniquement proche du bon grade.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6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0B4D8"/>
                </a:solidFill>
              </a:rPr>
              <a:t>SYNTHÈSE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Tableau récapitulatif de la progression</a:t>
            </a:r>
            <a:endParaRPr lang="en-US" sz="2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005840"/>
          <a:ext cx="8138160" cy="3328416"/>
        </p:xfrm>
        <a:graphic>
          <a:graphicData uri="http://schemas.openxmlformats.org/drawingml/2006/table">
            <a:tbl>
              <a:tblPr/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Phase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B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Problème identifié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B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Solution apportée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B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NB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B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Résultat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B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</a:rPr>
                        <a:t>1 — Baseline D2</a:t>
                      </a:r>
                      <a:endParaRPr lang="en-US" sz="115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</a:rPr>
                        <a:t>Accuracy 99 % suspecte</a:t>
                      </a:r>
                      <a:endParaRPr lang="en-US" sz="115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</a:rPr>
                        <a:t>Changement de dataset</a:t>
                      </a:r>
                      <a:endParaRPr lang="en-US" sz="115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</a:rPr>
                        <a:t>02</a:t>
                      </a:r>
                      <a:endParaRPr lang="en-US" sz="115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</a:rPr>
                        <a:t>~</a:t>
                      </a:r>
                      <a:endParaRPr lang="en-US" sz="115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</a:rPr>
                        <a:t>2 — Baseline APTOS</a:t>
                      </a:r>
                      <a:endParaRPr lang="en-US" sz="115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</a:rPr>
                        <a:t>Overfitting, classes rares</a:t>
                      </a:r>
                      <a:endParaRPr lang="en-US" sz="115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</a:rPr>
                        <a:t>Diagnostic documenté</a:t>
                      </a:r>
                      <a:endParaRPr lang="en-US" sz="115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</a:rPr>
                        <a:t>01</a:t>
                      </a:r>
                      <a:endParaRPr lang="en-US" sz="115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</a:rPr>
                        <a:t>82%</a:t>
                      </a:r>
                      <a:endParaRPr lang="en-US" sz="115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</a:rPr>
                        <a:t>3 — Advanced v1</a:t>
                      </a:r>
                      <a:endParaRPr lang="en-US" sz="115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</a:rPr>
                        <a:t>Double-correction, hue jitter</a:t>
                      </a:r>
                      <a:endParaRPr lang="en-US" sz="115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</a:rPr>
                        <a:t>4 modèles, Grad-CAM, 2 GPUs</a:t>
                      </a:r>
                      <a:endParaRPr lang="en-US" sz="115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</a:rPr>
                        <a:t>03</a:t>
                      </a:r>
                      <a:endParaRPr lang="en-US" sz="115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FF9F1C"/>
                          </a:solidFill>
                        </a:rPr>
                        <a:t>70,8%</a:t>
                      </a:r>
                      <a:endParaRPr lang="en-US" sz="115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</a:rPr>
                        <a:t>4 — Advanced v2</a:t>
                      </a:r>
                      <a:endParaRPr lang="en-US" sz="115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</a:rPr>
                        <a:t>Convergence insuffisante</a:t>
                      </a:r>
                      <a:endParaRPr lang="en-US" sz="115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</a:rPr>
                        <a:t>Early stopping (50 ep., p=8)</a:t>
                      </a:r>
                      <a:endParaRPr lang="en-US" sz="115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</a:rPr>
                        <a:t>04</a:t>
                      </a:r>
                      <a:endParaRPr lang="en-US" sz="115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</a:rPr>
                        <a:t>+</a:t>
                      </a:r>
                      <a:endParaRPr lang="en-US" sz="115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</a:rPr>
                        <a:t>5 — Final APTOS</a:t>
                      </a:r>
                      <a:endParaRPr lang="en-US" sz="115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</a:rPr>
                        <a:t>Métriques déséquilibrées</a:t>
                      </a:r>
                      <a:endParaRPr lang="en-US" sz="115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</a:rPr>
                        <a:t>TTA + label smoothing + ensemble pondéré</a:t>
                      </a:r>
                      <a:endParaRPr lang="en-US" sz="115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</a:rPr>
                        <a:t>05</a:t>
                      </a:r>
                      <a:endParaRPr lang="en-US" sz="115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077B6"/>
                          </a:solidFill>
                        </a:rPr>
                        <a:t>~83%</a:t>
                      </a:r>
                      <a:endParaRPr lang="en-US" sz="115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</a:rPr>
                        <a:t>6 — Final D2</a:t>
                      </a:r>
                      <a:endParaRPr lang="en-US" sz="115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</a:rPr>
                        <a:t>Pipeline à valider</a:t>
                      </a:r>
                      <a:endParaRPr lang="en-US" sz="115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</a:rPr>
                        <a:t>Pipeline complet appliqué</a:t>
                      </a:r>
                      <a:endParaRPr lang="en-US" sz="115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</a:rPr>
                        <a:t>06</a:t>
                      </a:r>
                      <a:endParaRPr lang="en-US" sz="115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6D6A0"/>
                          </a:solidFill>
                        </a:rPr>
                        <a:t>99,6%</a:t>
                      </a:r>
                      <a:endParaRPr lang="en-US" sz="115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20040" y="4663440"/>
            <a:ext cx="8503920" cy="274320"/>
          </a:xfrm>
          <a:prstGeom prst="rect">
            <a:avLst/>
          </a:prstGeom>
          <a:solidFill>
            <a:srgbClr val="EFF6FF"/>
          </a:solidFill>
          <a:ln w="12700">
            <a:solidFill>
              <a:srgbClr val="0077B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502920" y="466344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077B6"/>
                </a:solidFill>
              </a:rPr>
              <a:t>Chaque phase a fourni des insights concrets qui ont alimenté la suivante — c'est la valeur d'une démarche itérative documentée.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6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0B4D8"/>
                </a:solidFill>
              </a:rPr>
              <a:t>TECHNIQUES CLÉS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Grad-CAM &amp; Test-Time Augmentation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20040" y="1051560"/>
            <a:ext cx="4160520" cy="37490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320040" y="1051560"/>
            <a:ext cx="4160520" cy="384048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Grad-CAM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1463040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</a:rPr>
              <a:t>Gradient-weighted Class Activation Mapping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182880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1E293B"/>
                </a:solidFill>
              </a:rPr>
              <a:t>Visualise les zones de l'image sur lesquelles le modèle s'appuie pour sa décision. Implémenté from scratch (sans bibliothèque externe) pour un contrôle total sur le pipeline.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57200" y="28803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7C3AED"/>
                </a:solidFill>
              </a:rPr>
              <a:t>Utilité clinique :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57200" y="324612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7C3AED"/>
                </a:solidFill>
              </a:rPr>
              <a:t>›  </a:t>
            </a:r>
            <a:r>
              <a:rPr lang="en-US" sz="1200" dirty="0">
                <a:solidFill>
                  <a:srgbClr val="1E293B"/>
                </a:solidFill>
              </a:rPr>
              <a:t>Vérifie que le modèle regarde les lésions (et non le bruit d'image)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3721608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7C3AED"/>
                </a:solidFill>
              </a:rPr>
              <a:t>›  </a:t>
            </a:r>
            <a:r>
              <a:rPr lang="en-US" sz="1200" dirty="0">
                <a:solidFill>
                  <a:srgbClr val="1E293B"/>
                </a:solidFill>
              </a:rPr>
              <a:t>Renforce la confiance clinique dans les prédictions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4197096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7C3AED"/>
                </a:solidFill>
              </a:rPr>
              <a:t>›  </a:t>
            </a:r>
            <a:r>
              <a:rPr lang="en-US" sz="1200" dirty="0">
                <a:solidFill>
                  <a:srgbClr val="1E293B"/>
                </a:solidFill>
              </a:rPr>
              <a:t>Facilite la détection d'artefacts d'entraînement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663440" y="1051560"/>
            <a:ext cx="4160520" cy="37490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5" name="Shape 13"/>
          <p:cNvSpPr/>
          <p:nvPr/>
        </p:nvSpPr>
        <p:spPr>
          <a:xfrm>
            <a:off x="4663440" y="1051560"/>
            <a:ext cx="4160520" cy="384048"/>
          </a:xfrm>
          <a:prstGeom prst="rect">
            <a:avLst/>
          </a:prstGeom>
          <a:solidFill>
            <a:srgbClr val="0077B6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4800600" y="105156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Test-Time Augmentation (TTA × 4)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754880" y="1554480"/>
            <a:ext cx="1828800" cy="822960"/>
          </a:xfrm>
          <a:prstGeom prst="rect">
            <a:avLst/>
          </a:prstGeom>
          <a:solidFill>
            <a:srgbClr val="EFF6FF"/>
          </a:solidFill>
          <a:ln w="12700">
            <a:solidFill>
              <a:srgbClr val="0077B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4754880" y="160020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77B6"/>
                </a:solidFill>
              </a:rPr>
              <a:t>Vue originale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754880" y="199339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4748B"/>
                </a:solidFill>
              </a:rPr>
              <a:t>Sans transformation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766560" y="1554480"/>
            <a:ext cx="1828800" cy="822960"/>
          </a:xfrm>
          <a:prstGeom prst="rect">
            <a:avLst/>
          </a:prstGeom>
          <a:solidFill>
            <a:srgbClr val="EFF6FF"/>
          </a:solidFill>
          <a:ln w="12700">
            <a:solidFill>
              <a:srgbClr val="0077B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Text 19"/>
          <p:cNvSpPr/>
          <p:nvPr/>
        </p:nvSpPr>
        <p:spPr>
          <a:xfrm>
            <a:off x="6766560" y="160020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77B6"/>
                </a:solidFill>
              </a:rPr>
              <a:t>Flip horizontal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766560" y="199339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4748B"/>
                </a:solidFill>
              </a:rPr>
              <a:t>Mirror gauche-droite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754880" y="2514600"/>
            <a:ext cx="1828800" cy="822960"/>
          </a:xfrm>
          <a:prstGeom prst="rect">
            <a:avLst/>
          </a:prstGeom>
          <a:solidFill>
            <a:srgbClr val="EFF6FF"/>
          </a:solidFill>
          <a:ln w="12700">
            <a:solidFill>
              <a:srgbClr val="0077B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Text 22"/>
          <p:cNvSpPr/>
          <p:nvPr/>
        </p:nvSpPr>
        <p:spPr>
          <a:xfrm>
            <a:off x="4754880" y="256032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77B6"/>
                </a:solidFill>
              </a:rPr>
              <a:t>Flip vertical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754880" y="295351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4748B"/>
                </a:solidFill>
              </a:rPr>
              <a:t>Mirror haut-bas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766560" y="2514600"/>
            <a:ext cx="1828800" cy="822960"/>
          </a:xfrm>
          <a:prstGeom prst="rect">
            <a:avLst/>
          </a:prstGeom>
          <a:solidFill>
            <a:srgbClr val="EFF6FF"/>
          </a:solidFill>
          <a:ln w="12700">
            <a:solidFill>
              <a:srgbClr val="0077B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7" name="Text 25"/>
          <p:cNvSpPr/>
          <p:nvPr/>
        </p:nvSpPr>
        <p:spPr>
          <a:xfrm>
            <a:off x="6766560" y="256032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77B6"/>
                </a:solidFill>
              </a:rPr>
              <a:t>Rotation 180°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766560" y="295351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4748B"/>
                </a:solidFill>
              </a:rPr>
              <a:t>Orientation opposée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4754880" y="349300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77B6"/>
                </a:solidFill>
              </a:rPr>
              <a:t>→</a:t>
            </a:r>
            <a:endParaRPr lang="en-US" sz="2200" dirty="0"/>
          </a:p>
        </p:txBody>
      </p:sp>
      <p:sp>
        <p:nvSpPr>
          <p:cNvPr id="30" name="Shape 28"/>
          <p:cNvSpPr/>
          <p:nvPr/>
        </p:nvSpPr>
        <p:spPr>
          <a:xfrm>
            <a:off x="5029200" y="3840480"/>
            <a:ext cx="3566160" cy="731520"/>
          </a:xfrm>
          <a:prstGeom prst="rect">
            <a:avLst/>
          </a:prstGeom>
          <a:solidFill>
            <a:srgbClr val="0077B6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1" name="Text 29"/>
          <p:cNvSpPr/>
          <p:nvPr/>
        </p:nvSpPr>
        <p:spPr>
          <a:xfrm>
            <a:off x="5029200" y="384048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FFFFFF"/>
                </a:solidFill>
              </a:rPr>
              <a:t>Moyenne des 4 prédictions softmax</a:t>
            </a:r>
            <a:endParaRPr lang="en-US" sz="12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FFFFFF"/>
                </a:solidFill>
              </a:rPr>
              <a:t>→ Prédiction finale stabilisée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0B4D8"/>
                </a:solidFill>
              </a:rPr>
              <a:t>CONCLUSION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98755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</a:rPr>
              <a:t>Ce que cette démarche démontre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664208"/>
            <a:ext cx="4160520" cy="1417320"/>
          </a:xfrm>
          <a:prstGeom prst="rect">
            <a:avLst/>
          </a:prstGeom>
          <a:solidFill>
            <a:srgbClr val="101E33"/>
          </a:solidFill>
          <a:ln w="12700">
            <a:solidFill>
              <a:srgbClr val="0077B6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548640" y="1938528"/>
            <a:ext cx="548640" cy="548640"/>
          </a:xfrm>
          <a:prstGeom prst="ellipse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548640" y="193852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</a:rPr>
              <a:t>01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234440" y="1865376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B4D8"/>
                </a:solidFill>
              </a:rPr>
              <a:t>Rigueur diagnostique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234440" y="2258568"/>
            <a:ext cx="31546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CBD5E1"/>
                </a:solidFill>
              </a:rPr>
              <a:t>Chaque résultat suspect a été analysé (99 % dès le départ → leakage) avant de passer à l'étape suivante.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800600" y="1664208"/>
            <a:ext cx="4160520" cy="1417320"/>
          </a:xfrm>
          <a:prstGeom prst="rect">
            <a:avLst/>
          </a:prstGeom>
          <a:solidFill>
            <a:srgbClr val="101E33"/>
          </a:solidFill>
          <a:ln w="12700">
            <a:solidFill>
              <a:srgbClr val="0077B6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1" name="Shape 9"/>
          <p:cNvSpPr/>
          <p:nvPr/>
        </p:nvSpPr>
        <p:spPr>
          <a:xfrm>
            <a:off x="4983480" y="1938528"/>
            <a:ext cx="548640" cy="548640"/>
          </a:xfrm>
          <a:prstGeom prst="ellipse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4983480" y="193852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</a:rPr>
              <a:t>02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669280" y="1865376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B4D8"/>
                </a:solidFill>
              </a:rPr>
              <a:t>Itération guidée par les données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669280" y="2258568"/>
            <a:ext cx="31546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CBD5E1"/>
                </a:solidFill>
              </a:rPr>
              <a:t>Chaque problème identifié a généré une hypothèse claire et une solution mesurable sur le dataset suivant.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365760" y="3218688"/>
            <a:ext cx="4160520" cy="1417320"/>
          </a:xfrm>
          <a:prstGeom prst="rect">
            <a:avLst/>
          </a:prstGeom>
          <a:solidFill>
            <a:srgbClr val="101E33"/>
          </a:solidFill>
          <a:ln w="12700">
            <a:solidFill>
              <a:srgbClr val="0077B6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6" name="Shape 14"/>
          <p:cNvSpPr/>
          <p:nvPr/>
        </p:nvSpPr>
        <p:spPr>
          <a:xfrm>
            <a:off x="548640" y="3493008"/>
            <a:ext cx="548640" cy="548640"/>
          </a:xfrm>
          <a:prstGeom prst="ellipse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/>
          <p:nvPr/>
        </p:nvSpPr>
        <p:spPr>
          <a:xfrm>
            <a:off x="548640" y="34930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</a:rPr>
              <a:t>03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234440" y="3419856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B4D8"/>
                </a:solidFill>
              </a:rPr>
              <a:t>Justification médicale des choix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234440" y="3813048"/>
            <a:ext cx="31546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CBD5E1"/>
                </a:solidFill>
              </a:rPr>
              <a:t>Les augmentations ont été sélectionnées selon leur pertinence clinique (ex : suppression du hue jitter).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800600" y="3218688"/>
            <a:ext cx="4160520" cy="1417320"/>
          </a:xfrm>
          <a:prstGeom prst="rect">
            <a:avLst/>
          </a:prstGeom>
          <a:solidFill>
            <a:srgbClr val="101E33"/>
          </a:solidFill>
          <a:ln w="12700">
            <a:solidFill>
              <a:srgbClr val="0077B6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1" name="Shape 19"/>
          <p:cNvSpPr/>
          <p:nvPr/>
        </p:nvSpPr>
        <p:spPr>
          <a:xfrm>
            <a:off x="4983480" y="3493008"/>
            <a:ext cx="548640" cy="548640"/>
          </a:xfrm>
          <a:prstGeom prst="ellipse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2" name="Text 20"/>
          <p:cNvSpPr/>
          <p:nvPr/>
        </p:nvSpPr>
        <p:spPr>
          <a:xfrm>
            <a:off x="4983480" y="34930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</a:rPr>
              <a:t>04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669280" y="3419856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B4D8"/>
                </a:solidFill>
              </a:rPr>
              <a:t>Pipeline industrialisable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669280" y="3813048"/>
            <a:ext cx="31546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CBD5E1"/>
                </a:solidFill>
              </a:rPr>
              <a:t>TTA, label smoothing, ensemble pondéré, Grad-CAM : techniques directement transposables en production.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0" y="4773168"/>
            <a:ext cx="9144000" cy="365760"/>
          </a:xfrm>
          <a:prstGeom prst="rect">
            <a:avLst/>
          </a:prstGeom>
          <a:solidFill>
            <a:srgbClr val="0077B6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6" name="Text 24"/>
          <p:cNvSpPr/>
          <p:nvPr/>
        </p:nvSpPr>
        <p:spPr>
          <a:xfrm>
            <a:off x="274320" y="4773168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BFDBFE"/>
                </a:solidFill>
              </a:rPr>
              <a:t>Classification de la Rétinopathie Diabétique  ·  6 phases  ·  4 architectures  ·  99,6 % accuracy finale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1017</Words>
  <Application>Microsoft Office PowerPoint</Application>
  <PresentationFormat>Affichage à l'écran (16:9)</PresentationFormat>
  <Paragraphs>245</Paragraphs>
  <Slides>10</Slides>
  <Notes>10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Classification de la Rétinopathie Diabétique</dc:title>
  <dc:subject>PptxGenJS Presentation</dc:subject>
  <dc:creator>PptxGenJS</dc:creator>
  <cp:lastModifiedBy>USER</cp:lastModifiedBy>
  <cp:revision>2</cp:revision>
  <dcterms:created xsi:type="dcterms:W3CDTF">2026-05-22T10:32:38Z</dcterms:created>
  <dcterms:modified xsi:type="dcterms:W3CDTF">2026-05-22T12:40:30Z</dcterms:modified>
</cp:coreProperties>
</file>