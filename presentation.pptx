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"/>
            <a:ext cx="3474720" cy="34747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274320"/>
            <a:ext cx="2194560" cy="21945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02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DEEP LEARNING · VISION MÉDICALE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la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Rétinopathie Diabétique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 progressive d'un pipeline de classification multi-classes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l'image fundus — du Baseline à l'Ensemble pondéré avec TTA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92024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d'itération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3703320"/>
            <a:ext cx="192024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703320"/>
            <a:ext cx="192024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3 662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5488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APTOS 2019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703320"/>
            <a:ext cx="192024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99,6%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CONTEXTE CLINIQUE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Pourquoi classifier la rétinopathie diabétique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rétinopathie diabétique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 principale cause de cécité chez les adultes d'âge actif. Un dépistage précoce par analyse d'images fundus permet d'éviter la perte de vision dans plus de 90 % des cas.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Distribution APTOS 2019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1722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508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Grade 0 — No DR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0" y="1508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1 805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30552"/>
            <a:ext cx="637294" cy="384048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305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Grade 1 — Mild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21305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370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52344"/>
            <a:ext cx="1720693" cy="38404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7523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Grade 2 — Moderate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27523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999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374136"/>
            <a:ext cx="332426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3741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Grade 3 — Severe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33741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193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995928"/>
            <a:ext cx="508113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9959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Grade 4 — Proliferative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39959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295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331720"/>
            <a:ext cx="4206240" cy="2514600"/>
          </a:xfrm>
          <a:prstGeom prst="rect">
            <a:avLst/>
          </a:prstGeom>
          <a:solidFill>
            <a:srgbClr val="FFF8E1"/>
          </a:solidFill>
          <a:ln w="1905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</a:rPr>
              <a:t>⚠  Défis principaux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déséquilibre entre les classes (1 805 vs 193)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adjacents cliniquement ambigus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fundus bruitées et hétérogènes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adaptée : Balanced Accuracy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PROGRESSION MÉTHODOLOGIQUE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Vue d'ensemble des 6 phases d'itération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1554480"/>
          </a:xfrm>
          <a:prstGeom prst="rect">
            <a:avLst/>
          </a:prstGeom>
          <a:solidFill>
            <a:srgbClr val="162032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170432"/>
            <a:ext cx="475488" cy="475488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11887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NB 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Baseline Dataset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0848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99% suspect → data leakage 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1554480"/>
          </a:xfrm>
          <a:prstGeom prst="rect">
            <a:avLst/>
          </a:prstGeom>
          <a:solidFill>
            <a:srgbClr val="162032"/>
          </a:solidFill>
          <a:ln w="1905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170432"/>
            <a:ext cx="475488" cy="475488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1887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F1C"/>
                </a:solidFill>
              </a:rPr>
              <a:t>NB 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Baseline APTOS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20848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Overfitting + classes rares ignorées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005840"/>
            <a:ext cx="2743200" cy="1554480"/>
          </a:xfrm>
          <a:prstGeom prst="rect">
            <a:avLst/>
          </a:prstGeom>
          <a:solidFill>
            <a:srgbClr val="162032"/>
          </a:solidFill>
          <a:ln w="1905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36792" y="1170432"/>
            <a:ext cx="475488" cy="475488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11887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F1C"/>
                </a:solidFill>
              </a:rPr>
              <a:t>NB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Advanced v1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81928" y="20848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70,8% — double-correction + hue jitter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2743200" cy="1554480"/>
          </a:xfrm>
          <a:prstGeom prst="rect">
            <a:avLst/>
          </a:prstGeom>
          <a:solidFill>
            <a:srgbClr val="162032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" y="2999232"/>
            <a:ext cx="475488" cy="47548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06040" y="3017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NB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Advanced v2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" y="3913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Early stopping (50 ep., patience=8)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834640"/>
            <a:ext cx="2743200" cy="1554480"/>
          </a:xfrm>
          <a:prstGeom prst="rect">
            <a:avLst/>
          </a:prstGeom>
          <a:solidFill>
            <a:srgbClr val="16203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10712" y="2999232"/>
            <a:ext cx="475488" cy="47548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3410712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2120" y="3017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NB 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55848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APTOS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55848" y="3913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~83% — TTA + label smoothing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2834640"/>
            <a:ext cx="2743200" cy="1554480"/>
          </a:xfrm>
          <a:prstGeom prst="rect">
            <a:avLst/>
          </a:prstGeom>
          <a:solidFill>
            <a:srgbClr val="16203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36792" y="2999232"/>
            <a:ext cx="475488" cy="47548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7" name="Text 35"/>
          <p:cNvSpPr/>
          <p:nvPr/>
        </p:nvSpPr>
        <p:spPr>
          <a:xfrm>
            <a:off x="6336792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58200" y="3017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NB 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81928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Dataset 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81928" y="3913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99,6% accuracy test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2743200"/>
            <a:ext cx="54864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PHASES 1 &amp;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Baseline : données suspectes &amp; overfitting documenté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14800" cy="41148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 — Dataset 2 (NB 02)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411480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6304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</a:rPr>
              <a:t>Dataset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17320" y="146304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Kaggle shajinrp — déjà trié par classe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95681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</a:rPr>
              <a:t>Modèle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17320" y="195681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ResNet18 simple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411480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50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</a:rPr>
              <a:t>Résultat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17320" y="245059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99,3–99,4 % dès les 1res epochs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4436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</a:rPr>
              <a:t>Problème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17320" y="294436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Convergence trop rapide → suspecte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411480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3814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</a:rPr>
              <a:t>Hypothèse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17320" y="343814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Data leakage ou dataset trop facile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3192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</a:rPr>
              <a:t>Décision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417320" y="393192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Basculer sur données officielles APTOS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105156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051560"/>
            <a:ext cx="4114800" cy="41148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 — APTOS 2019 (NB 01)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463040"/>
            <a:ext cx="411480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46304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1C"/>
                </a:solidFill>
              </a:rPr>
              <a:t>Dataset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06440" y="146304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APTOS 2019 — 3 662 images fundus réelles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1956816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195681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1C"/>
                </a:solidFill>
              </a:rPr>
              <a:t>Modèles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06440" y="195681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ResNet18 + ResNet34 (ImageNet)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09160" y="2450592"/>
            <a:ext cx="411480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450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1C"/>
                </a:solidFill>
              </a:rPr>
              <a:t>Val Acc.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06440" y="245059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~82–83 %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09160" y="2944368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94436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1C"/>
                </a:solidFill>
              </a:rPr>
              <a:t>Problème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806440" y="294436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Val loss oscille → overfitting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09160" y="3438144"/>
            <a:ext cx="411480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343814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1C"/>
                </a:solidFill>
              </a:rPr>
              <a:t>Rappel 0/1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806440" y="343814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~90 % (classes majoritaires)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709160" y="3931920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93192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1C"/>
                </a:solidFill>
              </a:rPr>
              <a:t>Rappel 3/4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806440" y="393192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48–49 % (quasi aléatoire !)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PHASE 3 — NB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Advanced v1 : 4 modèles, 2 GPUs, Ensemble — résultat 70,8 %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4 architectures diversifiées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188720" cy="9144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63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R50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ResNet50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1417320"/>
            <a:ext cx="1188720" cy="9144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18488" y="1463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18488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EfficientNet-B0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16936" y="1417320"/>
            <a:ext cx="1188720" cy="9144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16936" y="1463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16936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DenseNet121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15384" y="1417320"/>
            <a:ext cx="1188720" cy="9144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15384" y="1463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R18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15384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ResNet18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7B6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1554480" cy="91440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Ensemble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70,8%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4206240" cy="2286000"/>
          </a:xfrm>
          <a:prstGeom prst="rect">
            <a:avLst/>
          </a:prstGeom>
          <a:solidFill>
            <a:srgbClr val="F0FFF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606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✓  Améliorations apportées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Entraînement parallèle sur 2 GPUs Tesla T4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419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WeightedRandomSampler + poids de loss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8039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Augmentation étendue (flips, rotation ±20°, etc.)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Cosine Annealing scheduler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Grad-CAM from scratch (sans lib externe)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514600"/>
            <a:ext cx="4114800" cy="228600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</a:rPr>
              <a:t>✗  Faiblesses identifiées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0358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F476F"/>
                </a:solidFill>
              </a:rPr>
              <a:t>✗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10 epochs insuffisantes (courbes non convergées)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5478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F476F"/>
                </a:solidFill>
              </a:rPr>
              <a:t>✗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Double-correction déséquilibre → instabilité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0599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F476F"/>
                </a:solidFill>
              </a:rPr>
              <a:t>✗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Hue jitter détruit les indices couleur des lésions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PHASES 4 &amp; 5 — NB 04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Early stopping + version finale APTOS → ~83 %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13716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Phase 4 — Early Stopping (NB 04)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463040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patience = 8  ·  max 50 epochs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Poids de loss adoucis </a:t>
            </a:r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E293B"/>
                </a:solidFill>
              </a:rPr>
              <a:t>(√ poids inverses)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Métrique ajoutée : balanced_accuracy_score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1480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5 — Final APTOS (NB 05)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389888"/>
            <a:ext cx="411480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1389888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38988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Rotation 360°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138988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La rétine n'a pas d'orientation canonique 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993392"/>
            <a:ext cx="411480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993392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76F"/>
                </a:solidFill>
              </a:rPr>
              <a:t>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99339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Hue/Saturation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99339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Supprimés — détruisent les indices couleur 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596896"/>
            <a:ext cx="411480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2596896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259689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Label Smoothing ε=0,1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259689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Grades adjacents cliniquement ambigus 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200400"/>
            <a:ext cx="411480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3200400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320040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TTA × 4 vues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2004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orig + flip H/V + rotation 180° — moyenne 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803904"/>
            <a:ext cx="4114800" cy="6035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803904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380390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Ensemble pondéré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38039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Chaque modèle pondéré par sa val_accuracy ✅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2514600"/>
            <a:ext cx="411480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</a:rPr>
              <a:t>Résultat final APTOS 2019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29992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7B6"/>
                </a:solidFill>
              </a:rPr>
              <a:t>~83 %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50292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accuracy test équilibré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Cohérent avec la difficulté clinique réelle du dataset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(images bruitées, déséquilibre, grades ambigus)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PHASE 6 — NB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Résultats finaux — Dataset 2 : 99,6 %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6D6A0"/>
                </a:solidFill>
              </a:rPr>
              <a:t>99,6%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accuracy test équilibré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250 images avec TTA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0,016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Mean Absolute Grade Error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(erreur quasi nulle entre grades)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005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Performances par architecture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417320"/>
            <a:ext cx="4663440" cy="530352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4173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ResNet50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545336"/>
            <a:ext cx="1548262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14173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99,6 %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2020824"/>
            <a:ext cx="4663440" cy="530352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0208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EfficientNet-B0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148840"/>
            <a:ext cx="155448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202082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100 %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2624328"/>
            <a:ext cx="4663440" cy="530352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6243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DenseNet121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52344"/>
            <a:ext cx="1548262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262432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99,6 %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06240" y="3227832"/>
            <a:ext cx="4663440" cy="530352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32278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ResNet18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355848"/>
            <a:ext cx="155448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32278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100 %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6240" y="3831336"/>
            <a:ext cx="466344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831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D6A0"/>
                </a:solidFill>
              </a:rPr>
              <a:t>Ensemble pondéré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3959352"/>
            <a:ext cx="1548262" cy="274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383133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99,6 %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06240" y="4343400"/>
            <a:ext cx="466344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4343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</a:rPr>
              <a:t>Quand le modèle se trompe, il reste cliniquement proche du bon grade.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SYNTHÈSE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Tableau récapitulatif de la progression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47472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2560320"/>
                <a:gridCol w="457200"/>
                <a:gridCol w="914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Problème identifié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Solution apportée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Résultat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1 — Baseline D2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Accuracy 99 % suspecte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Changement de dataset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02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~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2 — Baseline APTOS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Overfitting, classes rares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Diagnostic documenté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01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82%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3 — Advanced v1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Double-correction, hue jitter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4 modèles, Grad-CAM, 2 GPUs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03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9F1C"/>
                          </a:solidFill>
                        </a:rPr>
                        <a:t>70,8%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4 — Advanced v2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Convergence insuffisante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Early stopping (50 ep., p=8)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04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+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5 — Final APTOS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Métriques déséquilibrées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TTA + label smoothing + ensemble pondéré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05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77B6"/>
                          </a:solidFill>
                        </a:rPr>
                        <a:t>~83%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6 — Final D2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Pipeline à valider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Pipeline complet appliqué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06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</a:rPr>
                        <a:t>99,6%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77B6"/>
                </a:solidFill>
              </a:rPr>
              <a:t>Chaque phase a fourni des insights concrets qui ont alimenté la suivante — c'est la valeur d'une démarche itérative documentée.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TECHNIQUES CLÉS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Grad-CAM &amp; Test-Time Augmentation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Grad-CAM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Gradient-weighted Class Activation Mapping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Visualise les zones de l'image sur lesquelles le modèle s'appuie pour sa décision. Implémenté from scratch (sans bibliothèque externe) pour un contrôle total sur le pipeline.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Utilité clinique 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C3AED"/>
                </a:solidFill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Vérifie que le modèle regarde les lésions (et non le bruit d'image)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21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C3AED"/>
                </a:solidFill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Renforce la confiance clinique dans les prédictions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970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C3AED"/>
                </a:solidFill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Facilite la détection d'artefacts d'entraînement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160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Test-Time Augmentation (TTA × 4)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82880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00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Vue originale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Sans transformation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554480"/>
            <a:ext cx="182880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600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Flip horizontal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Mirror gauche-droite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182880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603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Flip vertical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953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Mirror haut-bas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2514600"/>
            <a:ext cx="182880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5603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Rotation 180°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953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Orientation opposée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3493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7B6"/>
                </a:solidFill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029200" y="3840480"/>
            <a:ext cx="3566160" cy="73152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Moyenne des 4 prédictions softmax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→ Prédiction finale stabilisée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Ce que cette démarche démontre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160520" cy="1417320"/>
          </a:xfrm>
          <a:prstGeom prst="rect">
            <a:avLst/>
          </a:prstGeom>
          <a:solidFill>
            <a:srgbClr val="101E33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653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Rigueur diagnostique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258568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Chaque résultat suspect a été analysé (99 % dès le départ → leakage) avant de passer à l'étape suivante.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664208"/>
            <a:ext cx="4160520" cy="1417320"/>
          </a:xfrm>
          <a:prstGeom prst="rect">
            <a:avLst/>
          </a:prstGeom>
          <a:solidFill>
            <a:srgbClr val="101E33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93852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8653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Itération guidée par les données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258568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Chaque problème identifié a généré une hypothèse claire et une solution mesurable sur le dataset suivant.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18688"/>
            <a:ext cx="4160520" cy="1417320"/>
          </a:xfrm>
          <a:prstGeom prst="rect">
            <a:avLst/>
          </a:prstGeom>
          <a:solidFill>
            <a:srgbClr val="101E33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9300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98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Justification médicale des choix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813048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Les augmentations ont été sélectionnées selon leur pertinence clinique (ex : suppression du hue jitter).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3218688"/>
            <a:ext cx="4160520" cy="1417320"/>
          </a:xfrm>
          <a:prstGeom prst="rect">
            <a:avLst/>
          </a:prstGeom>
          <a:solidFill>
            <a:srgbClr val="101E33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49300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34198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Pipeline industrialisable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3813048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TTA, label smoothing, ensemble pondéré, Grad-CAM : techniques directement transposables en production.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DBFE"/>
                </a:solidFill>
              </a:rPr>
              <a:t>Classification de la Rétinopathie Diabétique  ·  6 phases  ·  4 architectures  ·  99,6 % accuracy finale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de la Rétinopathie Diabétique</dc:title>
  <dc:subject>PptxGenJS Presentation</dc:subject>
  <dc:creator>PptxGenJS</dc:creator>
  <cp:lastModifiedBy>PptxGenJS</cp:lastModifiedBy>
  <cp:revision>1</cp:revision>
  <dcterms:created xsi:type="dcterms:W3CDTF">2026-05-22T10:32:38Z</dcterms:created>
  <dcterms:modified xsi:type="dcterms:W3CDTF">2026-05-22T10:32:38Z</dcterms:modified>
</cp:coreProperties>
</file>